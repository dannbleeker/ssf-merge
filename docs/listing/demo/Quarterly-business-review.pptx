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6B7280"/>
                </a:solidFill>
              </a:rPr>
              <a:t>Quarterly revenue — {{Account}}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Revenue, EUR thousands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284</c:v>
                </c:pt>
                <c:pt idx="1">
                  <c:v>301</c:v>
                </c:pt>
                <c:pt idx="2">
                  <c:v>297</c:v>
                </c:pt>
                <c:pt idx="3">
                  <c:v>368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 to send the {{Account}} pack the day after the review. Renewal is {{Renewal|date:d MMM yyyy}}.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77440"/>
            <a:ext cx="329184" cy="36576"/>
          </a:xfrm>
          <a:prstGeom prst="rect">
            <a:avLst/>
          </a:prstGeom>
          <a:solidFill>
            <a:srgbClr val="C9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Segoe UI"/>
              </a:rPr>
              <a:t>Quarterly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B7280"/>
                </a:solidFill>
                <a:latin typeface="Segoe UI"/>
              </a:rPr>
              <a:t>FY26 Q1 · one pack per account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85800"/>
            <a:ext cx="329184" cy="36576"/>
          </a:xfrm>
          <a:prstGeom prst="rect">
            <a:avLst/>
          </a:prstGeom>
          <a:solidFill>
            <a:srgbClr val="C9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Segoe UI"/>
              </a:rPr>
              <a:t>{{Account}} — {{Region}}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Segoe UI"/>
              </a:rPr>
              <a:t>Renewal {{Renewal|date:d MMM yyyy}}</a:t>
            </a:r>
          </a:p>
          <a:p>
            <a:r>
              <a:rPr sz="1800" b="0">
                <a:solidFill>
                  <a:srgbClr val="6B7280"/>
                </a:solidFill>
                <a:latin typeface="Segoe UI"/>
              </a:rPr>
              <a:t>Annual value {{Revenue|number:0}} EUR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3383280"/>
          <a:ext cx="67665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8288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Segoe UI"/>
              </a:rPr>
              <a:t>Where it stands</a:t>
            </a:r>
          </a:p>
          <a:p>
            <a:r>
              <a:rPr sz="1400" b="0">
                <a:solidFill>
                  <a:srgbClr val="6B7280"/>
                </a:solidFill>
                <a:latin typeface="Segoe UI"/>
              </a:rPr>
              <a:t/>
            </a:r>
          </a:p>
          <a:p>
            <a:r>
              <a:rPr sz="1400" b="0">
                <a:solidFill>
                  <a:srgbClr val="6B7280"/>
                </a:solidFill>
                <a:latin typeface="Segoe UI"/>
              </a:rPr>
              <a:t>Renewal conversation opens this quarter. Usage is steady and the team has asked about the reporting add-on.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85800"/>
            <a:ext cx="329184" cy="36576"/>
          </a:xfrm>
          <a:prstGeom prst="rect">
            <a:avLst/>
          </a:prstGeom>
          <a:solidFill>
            <a:srgbClr val="C9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A1A1A"/>
                </a:solidFill>
                <a:latin typeface="Segoe UI"/>
              </a:rPr>
              <a:t>Next steps for {{Account}}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Segoe UI"/>
              </a:rPr>
              <a:t>1.  Confirm the renewal date with {{Region}} and put it in the forecast.</a:t>
            </a:r>
          </a:p>
          <a:p>
            <a:r>
              <a:rPr sz="2000" b="0">
                <a:solidFill>
                  <a:srgbClr val="1A1A1A"/>
                </a:solidFill>
                <a:latin typeface="Segoe UI"/>
              </a:rPr>
              <a:t/>
            </a:r>
          </a:p>
          <a:p>
            <a:r>
              <a:rPr sz="2000" b="0">
                <a:solidFill>
                  <a:srgbClr val="1A1A1A"/>
                </a:solidFill>
                <a:latin typeface="Segoe UI"/>
              </a:rPr>
              <a:t>2.  Walk through the reporting add-on before {{Renewal|date:d MMM}}.</a:t>
            </a:r>
          </a:p>
          <a:p>
            <a:r>
              <a:rPr sz="2000" b="0">
                <a:solidFill>
                  <a:srgbClr val="1A1A1A"/>
                </a:solidFill>
                <a:latin typeface="Segoe UI"/>
              </a:rPr>
              <a:t/>
            </a:r>
          </a:p>
          <a:p>
            <a:r>
              <a:rPr sz="2000" b="0">
                <a:solidFill>
                  <a:srgbClr val="1A1A1A"/>
                </a:solidFill>
                <a:latin typeface="Segoe UI"/>
              </a:rPr>
              <a:t>3.  Agree the FY27 number against this year's {{Revenue|number:0}} EUR.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