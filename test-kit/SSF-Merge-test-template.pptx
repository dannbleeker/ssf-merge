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68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t>Quarterly revenue — {{Region}}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{{Region}}</c:v>
                </c:pt>
                <c:pt idx="1">
                  <c:v>Everyone else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B1-49A0-B7CC-8880CBE9A6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3E2DB8-5EAA-4F66-BA2B-4342DC7DD4AC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6C5CEB4A-A9BD-407F-B8EA-47317CB379C7}">
      <dgm:prSet phldrT="[Text]"/>
      <dgm:spPr/>
      <dgm:t>
        <a:bodyPr/>
        <a:lstStyle/>
        <a:p>
          <a:r>
            <a:rPr lang="da-DK" dirty="0">
              <a:solidFill>
                <a:srgbClr val="555F6D"/>
              </a:solidFill>
            </a:rPr>
            <a:t>{{Name}}</a:t>
          </a:r>
          <a:endParaRPr lang="da-DK" dirty="0"/>
        </a:p>
      </dgm:t>
    </dgm:pt>
    <dgm:pt modelId="{37896826-2320-4826-BF39-45B6C826975D}" type="parTrans" cxnId="{AC4F4CD8-4524-494A-99AF-20367BD6B183}">
      <dgm:prSet/>
      <dgm:spPr/>
      <dgm:t>
        <a:bodyPr/>
        <a:lstStyle/>
        <a:p>
          <a:endParaRPr lang="da-DK"/>
        </a:p>
      </dgm:t>
    </dgm:pt>
    <dgm:pt modelId="{13B3A664-7638-4EAA-81D6-2443A1E61C97}" type="sibTrans" cxnId="{AC4F4CD8-4524-494A-99AF-20367BD6B183}">
      <dgm:prSet/>
      <dgm:spPr/>
      <dgm:t>
        <a:bodyPr/>
        <a:lstStyle/>
        <a:p>
          <a:endParaRPr lang="da-DK"/>
        </a:p>
      </dgm:t>
    </dgm:pt>
    <dgm:pt modelId="{A2FC36DB-97D1-414B-BDBB-9146087EB5DD}">
      <dgm:prSet phldrT="[Text]"/>
      <dgm:spPr/>
      <dgm:t>
        <a:bodyPr/>
        <a:lstStyle/>
        <a:p>
          <a:r>
            <a:rPr lang="da-DK" dirty="0">
              <a:solidFill>
                <a:srgbClr val="555F6D"/>
              </a:solidFill>
            </a:rPr>
            <a:t>{{</a:t>
          </a:r>
          <a:r>
            <a:rPr lang="da-DK">
              <a:solidFill>
                <a:srgbClr val="555F6D"/>
              </a:solidFill>
            </a:rPr>
            <a:t>Region}}</a:t>
          </a:r>
          <a:endParaRPr lang="da-DK" dirty="0"/>
        </a:p>
      </dgm:t>
    </dgm:pt>
    <dgm:pt modelId="{1C594D9B-52B4-42FD-BC1B-3833E4FA2589}" type="parTrans" cxnId="{2E45F047-B432-4011-AF0F-4F70642431B6}">
      <dgm:prSet/>
      <dgm:spPr/>
      <dgm:t>
        <a:bodyPr/>
        <a:lstStyle/>
        <a:p>
          <a:endParaRPr lang="da-DK"/>
        </a:p>
      </dgm:t>
    </dgm:pt>
    <dgm:pt modelId="{F8F069AD-59E6-4777-AEAE-C0EFA3F4BDDE}" type="sibTrans" cxnId="{2E45F047-B432-4011-AF0F-4F70642431B6}">
      <dgm:prSet/>
      <dgm:spPr/>
      <dgm:t>
        <a:bodyPr/>
        <a:lstStyle/>
        <a:p>
          <a:endParaRPr lang="da-DK"/>
        </a:p>
      </dgm:t>
    </dgm:pt>
    <dgm:pt modelId="{BF9675D7-9E1F-4BA0-89AD-C594E268D624}">
      <dgm:prSet phldrT="[Text]"/>
      <dgm:spPr/>
      <dgm:t>
        <a:bodyPr/>
        <a:lstStyle/>
        <a:p>
          <a:r>
            <a:rPr lang="da-DK">
              <a:solidFill>
                <a:srgbClr val="555F6D"/>
              </a:solidFill>
            </a:rPr>
            <a:t>Renewal {{Renewal|date:d MMM}}</a:t>
          </a:r>
          <a:endParaRPr lang="da-DK" dirty="0"/>
        </a:p>
      </dgm:t>
    </dgm:pt>
    <dgm:pt modelId="{B6A3FBFC-36C6-4E07-980F-9202589651AD}" type="parTrans" cxnId="{97484434-9E33-4698-AB21-6358FA94DE7F}">
      <dgm:prSet/>
      <dgm:spPr/>
      <dgm:t>
        <a:bodyPr/>
        <a:lstStyle/>
        <a:p>
          <a:endParaRPr lang="da-DK"/>
        </a:p>
      </dgm:t>
    </dgm:pt>
    <dgm:pt modelId="{8F133D0C-9015-416C-99EE-829F11D29285}" type="sibTrans" cxnId="{97484434-9E33-4698-AB21-6358FA94DE7F}">
      <dgm:prSet/>
      <dgm:spPr/>
      <dgm:t>
        <a:bodyPr/>
        <a:lstStyle/>
        <a:p>
          <a:endParaRPr lang="da-DK"/>
        </a:p>
      </dgm:t>
    </dgm:pt>
    <dgm:pt modelId="{0D753910-FAA2-4919-A24A-7591C14DF75C}" type="pres">
      <dgm:prSet presAssocID="{773E2DB8-5EAA-4F66-BA2B-4342DC7DD4AC}" presName="Name0" presStyleCnt="0">
        <dgm:presLayoutVars>
          <dgm:dir/>
          <dgm:resizeHandles val="exact"/>
        </dgm:presLayoutVars>
      </dgm:prSet>
      <dgm:spPr/>
    </dgm:pt>
    <dgm:pt modelId="{2C2F9DAB-5A89-48AB-A8B2-83B4D7D827AF}" type="pres">
      <dgm:prSet presAssocID="{6C5CEB4A-A9BD-407F-B8EA-47317CB379C7}" presName="node" presStyleLbl="node1" presStyleIdx="0" presStyleCnt="3">
        <dgm:presLayoutVars>
          <dgm:bulletEnabled val="1"/>
        </dgm:presLayoutVars>
      </dgm:prSet>
      <dgm:spPr/>
    </dgm:pt>
    <dgm:pt modelId="{ECAD69D8-EC9D-4470-AE0C-4551FB5363F0}" type="pres">
      <dgm:prSet presAssocID="{13B3A664-7638-4EAA-81D6-2443A1E61C97}" presName="sibTrans" presStyleLbl="sibTrans2D1" presStyleIdx="0" presStyleCnt="2"/>
      <dgm:spPr/>
    </dgm:pt>
    <dgm:pt modelId="{9E6AD052-601A-4684-B998-5D9C579EF72D}" type="pres">
      <dgm:prSet presAssocID="{13B3A664-7638-4EAA-81D6-2443A1E61C97}" presName="connectorText" presStyleLbl="sibTrans2D1" presStyleIdx="0" presStyleCnt="2"/>
      <dgm:spPr/>
    </dgm:pt>
    <dgm:pt modelId="{CAF44A5B-6687-45FB-B7F1-9D0433C8C516}" type="pres">
      <dgm:prSet presAssocID="{A2FC36DB-97D1-414B-BDBB-9146087EB5DD}" presName="node" presStyleLbl="node1" presStyleIdx="1" presStyleCnt="3">
        <dgm:presLayoutVars>
          <dgm:bulletEnabled val="1"/>
        </dgm:presLayoutVars>
      </dgm:prSet>
      <dgm:spPr/>
    </dgm:pt>
    <dgm:pt modelId="{D484C448-BD5F-4A30-8795-DF0972B52AE1}" type="pres">
      <dgm:prSet presAssocID="{F8F069AD-59E6-4777-AEAE-C0EFA3F4BDDE}" presName="sibTrans" presStyleLbl="sibTrans2D1" presStyleIdx="1" presStyleCnt="2"/>
      <dgm:spPr/>
    </dgm:pt>
    <dgm:pt modelId="{C80DC081-3C87-43EE-A838-BC9FD45FDC16}" type="pres">
      <dgm:prSet presAssocID="{F8F069AD-59E6-4777-AEAE-C0EFA3F4BDDE}" presName="connectorText" presStyleLbl="sibTrans2D1" presStyleIdx="1" presStyleCnt="2"/>
      <dgm:spPr/>
    </dgm:pt>
    <dgm:pt modelId="{B3974E45-0128-4B64-AA90-3684E073F6A2}" type="pres">
      <dgm:prSet presAssocID="{BF9675D7-9E1F-4BA0-89AD-C594E268D624}" presName="node" presStyleLbl="node1" presStyleIdx="2" presStyleCnt="3">
        <dgm:presLayoutVars>
          <dgm:bulletEnabled val="1"/>
        </dgm:presLayoutVars>
      </dgm:prSet>
      <dgm:spPr/>
    </dgm:pt>
  </dgm:ptLst>
  <dgm:cxnLst>
    <dgm:cxn modelId="{AAEAE503-2024-41F3-9ECA-EAC4633C88EB}" type="presOf" srcId="{6C5CEB4A-A9BD-407F-B8EA-47317CB379C7}" destId="{2C2F9DAB-5A89-48AB-A8B2-83B4D7D827AF}" srcOrd="0" destOrd="0" presId="urn:microsoft.com/office/officeart/2005/8/layout/process1"/>
    <dgm:cxn modelId="{97484434-9E33-4698-AB21-6358FA94DE7F}" srcId="{773E2DB8-5EAA-4F66-BA2B-4342DC7DD4AC}" destId="{BF9675D7-9E1F-4BA0-89AD-C594E268D624}" srcOrd="2" destOrd="0" parTransId="{B6A3FBFC-36C6-4E07-980F-9202589651AD}" sibTransId="{8F133D0C-9015-416C-99EE-829F11D29285}"/>
    <dgm:cxn modelId="{2E45F047-B432-4011-AF0F-4F70642431B6}" srcId="{773E2DB8-5EAA-4F66-BA2B-4342DC7DD4AC}" destId="{A2FC36DB-97D1-414B-BDBB-9146087EB5DD}" srcOrd="1" destOrd="0" parTransId="{1C594D9B-52B4-42FD-BC1B-3833E4FA2589}" sibTransId="{F8F069AD-59E6-4777-AEAE-C0EFA3F4BDDE}"/>
    <dgm:cxn modelId="{7A30F877-15D8-42F9-A7F1-93676033C780}" type="presOf" srcId="{773E2DB8-5EAA-4F66-BA2B-4342DC7DD4AC}" destId="{0D753910-FAA2-4919-A24A-7591C14DF75C}" srcOrd="0" destOrd="0" presId="urn:microsoft.com/office/officeart/2005/8/layout/process1"/>
    <dgm:cxn modelId="{858E9E96-BF4D-45FA-A0C8-986C39CC088A}" type="presOf" srcId="{13B3A664-7638-4EAA-81D6-2443A1E61C97}" destId="{ECAD69D8-EC9D-4470-AE0C-4551FB5363F0}" srcOrd="0" destOrd="0" presId="urn:microsoft.com/office/officeart/2005/8/layout/process1"/>
    <dgm:cxn modelId="{BC68559C-202E-407A-BB64-E6F7DFFD7174}" type="presOf" srcId="{F8F069AD-59E6-4777-AEAE-C0EFA3F4BDDE}" destId="{D484C448-BD5F-4A30-8795-DF0972B52AE1}" srcOrd="0" destOrd="0" presId="urn:microsoft.com/office/officeart/2005/8/layout/process1"/>
    <dgm:cxn modelId="{6F2EB7A5-B952-48C8-86DE-166B6C085ED3}" type="presOf" srcId="{13B3A664-7638-4EAA-81D6-2443A1E61C97}" destId="{9E6AD052-601A-4684-B998-5D9C579EF72D}" srcOrd="1" destOrd="0" presId="urn:microsoft.com/office/officeart/2005/8/layout/process1"/>
    <dgm:cxn modelId="{F83761B1-8E3B-4435-9927-AAA27F930A7D}" type="presOf" srcId="{A2FC36DB-97D1-414B-BDBB-9146087EB5DD}" destId="{CAF44A5B-6687-45FB-B7F1-9D0433C8C516}" srcOrd="0" destOrd="0" presId="urn:microsoft.com/office/officeart/2005/8/layout/process1"/>
    <dgm:cxn modelId="{05A192B4-421E-4CE8-8746-48584BBEE7AC}" type="presOf" srcId="{BF9675D7-9E1F-4BA0-89AD-C594E268D624}" destId="{B3974E45-0128-4B64-AA90-3684E073F6A2}" srcOrd="0" destOrd="0" presId="urn:microsoft.com/office/officeart/2005/8/layout/process1"/>
    <dgm:cxn modelId="{3D7D14C6-C4E4-4F1D-8672-5A1DCB65B0D0}" type="presOf" srcId="{F8F069AD-59E6-4777-AEAE-C0EFA3F4BDDE}" destId="{C80DC081-3C87-43EE-A838-BC9FD45FDC16}" srcOrd="1" destOrd="0" presId="urn:microsoft.com/office/officeart/2005/8/layout/process1"/>
    <dgm:cxn modelId="{AC4F4CD8-4524-494A-99AF-20367BD6B183}" srcId="{773E2DB8-5EAA-4F66-BA2B-4342DC7DD4AC}" destId="{6C5CEB4A-A9BD-407F-B8EA-47317CB379C7}" srcOrd="0" destOrd="0" parTransId="{37896826-2320-4826-BF39-45B6C826975D}" sibTransId="{13B3A664-7638-4EAA-81D6-2443A1E61C97}"/>
    <dgm:cxn modelId="{FE52C768-D2CD-4483-8BF8-BE369A142510}" type="presParOf" srcId="{0D753910-FAA2-4919-A24A-7591C14DF75C}" destId="{2C2F9DAB-5A89-48AB-A8B2-83B4D7D827AF}" srcOrd="0" destOrd="0" presId="urn:microsoft.com/office/officeart/2005/8/layout/process1"/>
    <dgm:cxn modelId="{5497FB8C-B79C-416C-B88E-7066B642E7FD}" type="presParOf" srcId="{0D753910-FAA2-4919-A24A-7591C14DF75C}" destId="{ECAD69D8-EC9D-4470-AE0C-4551FB5363F0}" srcOrd="1" destOrd="0" presId="urn:microsoft.com/office/officeart/2005/8/layout/process1"/>
    <dgm:cxn modelId="{B37BDF96-4C7F-438C-B5DC-0DFCA17226FA}" type="presParOf" srcId="{ECAD69D8-EC9D-4470-AE0C-4551FB5363F0}" destId="{9E6AD052-601A-4684-B998-5D9C579EF72D}" srcOrd="0" destOrd="0" presId="urn:microsoft.com/office/officeart/2005/8/layout/process1"/>
    <dgm:cxn modelId="{014C55C3-E529-474A-AB89-EBA1F25EDAE7}" type="presParOf" srcId="{0D753910-FAA2-4919-A24A-7591C14DF75C}" destId="{CAF44A5B-6687-45FB-B7F1-9D0433C8C516}" srcOrd="2" destOrd="0" presId="urn:microsoft.com/office/officeart/2005/8/layout/process1"/>
    <dgm:cxn modelId="{72DB4BC8-D0B8-438B-9F6C-BCEAACCA755E}" type="presParOf" srcId="{0D753910-FAA2-4919-A24A-7591C14DF75C}" destId="{D484C448-BD5F-4A30-8795-DF0972B52AE1}" srcOrd="3" destOrd="0" presId="urn:microsoft.com/office/officeart/2005/8/layout/process1"/>
    <dgm:cxn modelId="{644281FA-0644-4D72-A5F0-252686A05E66}" type="presParOf" srcId="{D484C448-BD5F-4A30-8795-DF0972B52AE1}" destId="{C80DC081-3C87-43EE-A838-BC9FD45FDC16}" srcOrd="0" destOrd="0" presId="urn:microsoft.com/office/officeart/2005/8/layout/process1"/>
    <dgm:cxn modelId="{B87A4F3C-7C0F-4849-81DD-2FD6511A6D9F}" type="presParOf" srcId="{0D753910-FAA2-4919-A24A-7591C14DF75C}" destId="{B3974E45-0128-4B64-AA90-3684E073F6A2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2F9DAB-5A89-48AB-A8B2-83B4D7D827AF}">
      <dsp:nvSpPr>
        <dsp:cNvPr id="0" name=""/>
        <dsp:cNvSpPr/>
      </dsp:nvSpPr>
      <dsp:spPr>
        <a:xfrm>
          <a:off x="7143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000" kern="1200" dirty="0">
              <a:solidFill>
                <a:srgbClr val="555F6D"/>
              </a:solidFill>
            </a:rPr>
            <a:t>{{Name}}</a:t>
          </a:r>
          <a:endParaRPr lang="da-DK" sz="2000" kern="1200" dirty="0"/>
        </a:p>
      </dsp:txBody>
      <dsp:txXfrm>
        <a:off x="44665" y="2106299"/>
        <a:ext cx="2060143" cy="1206068"/>
      </dsp:txXfrm>
    </dsp:sp>
    <dsp:sp modelId="{ECAD69D8-EC9D-4470-AE0C-4551FB5363F0}">
      <dsp:nvSpPr>
        <dsp:cNvPr id="0" name=""/>
        <dsp:cNvSpPr/>
      </dsp:nvSpPr>
      <dsp:spPr>
        <a:xfrm>
          <a:off x="2355850" y="244457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2355850" y="2550475"/>
        <a:ext cx="316861" cy="317716"/>
      </dsp:txXfrm>
    </dsp:sp>
    <dsp:sp modelId="{CAF44A5B-6687-45FB-B7F1-9D0433C8C516}">
      <dsp:nvSpPr>
        <dsp:cNvPr id="0" name=""/>
        <dsp:cNvSpPr/>
      </dsp:nvSpPr>
      <dsp:spPr>
        <a:xfrm>
          <a:off x="2996406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000" kern="1200" dirty="0">
              <a:solidFill>
                <a:srgbClr val="555F6D"/>
              </a:solidFill>
            </a:rPr>
            <a:t>{{</a:t>
          </a:r>
          <a:r>
            <a:rPr lang="da-DK" sz="2000" kern="1200">
              <a:solidFill>
                <a:srgbClr val="555F6D"/>
              </a:solidFill>
            </a:rPr>
            <a:t>Region}}</a:t>
          </a:r>
          <a:endParaRPr lang="da-DK" sz="2000" kern="1200" dirty="0"/>
        </a:p>
      </dsp:txBody>
      <dsp:txXfrm>
        <a:off x="3033928" y="2106299"/>
        <a:ext cx="2060143" cy="1206068"/>
      </dsp:txXfrm>
    </dsp:sp>
    <dsp:sp modelId="{D484C448-BD5F-4A30-8795-DF0972B52AE1}">
      <dsp:nvSpPr>
        <dsp:cNvPr id="0" name=""/>
        <dsp:cNvSpPr/>
      </dsp:nvSpPr>
      <dsp:spPr>
        <a:xfrm>
          <a:off x="5345112" y="244457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5345112" y="2550475"/>
        <a:ext cx="316861" cy="317716"/>
      </dsp:txXfrm>
    </dsp:sp>
    <dsp:sp modelId="{B3974E45-0128-4B64-AA90-3684E073F6A2}">
      <dsp:nvSpPr>
        <dsp:cNvPr id="0" name=""/>
        <dsp:cNvSpPr/>
      </dsp:nvSpPr>
      <dsp:spPr>
        <a:xfrm>
          <a:off x="5985668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000" kern="1200">
              <a:solidFill>
                <a:srgbClr val="555F6D"/>
              </a:solidFill>
            </a:rPr>
            <a:t>Renewal {{Renewal|date:d MMM}}</a:t>
          </a:r>
          <a:endParaRPr lang="da-DK" sz="2000" kern="1200" dirty="0"/>
        </a:p>
      </dsp:txBody>
      <dsp:txXfrm>
        <a:off x="6023190" y="2106299"/>
        <a:ext cx="2060143" cy="1206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A8E7A-C2AA-41F3-8C21-415D9D59E93D}" type="datetimeFigureOut">
              <a:rPr lang="da-DK" smtClean="0"/>
              <a:t>30-08-2026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B3EBE-AB4E-46D2-BC7D-ABF66B22976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77123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Call {{Name}} before {{Renewal|date:d MMM}}.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12B4A"/>
                </a:solidFill>
                <a:latin typeface="Aptos"/>
              </a:rPr>
              <a:t>SSF Merge — test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F6D"/>
                </a:solidFill>
                <a:latin typeface="Aptos"/>
              </a:rPr>
              <a:t>The template block is slides 2 and 3. This slide is not part of it.</a:t>
            </a:r>
          </a:p>
          <a:p>
            <a:endParaRPr sz="1500" b="0">
              <a:solidFill>
                <a:srgbClr val="555F6D"/>
              </a:solidFill>
              <a:latin typeface="Aptos"/>
            </a:endParaRPr>
          </a:p>
          <a:p>
            <a:r>
              <a:rPr sz="1500" b="0">
                <a:solidFill>
                  <a:srgbClr val="555F6D"/>
                </a:solidFill>
                <a:latin typeface="Aptos"/>
              </a:rPr>
              <a:t>1.  Add the SmartArt yourself, on slide 3, where the grey box says so:</a:t>
            </a:r>
          </a:p>
          <a:p>
            <a:r>
              <a:rPr sz="1500" b="0">
                <a:solidFill>
                  <a:srgbClr val="555F6D"/>
                </a:solidFill>
                <a:latin typeface="Aptos"/>
              </a:rPr>
              <a:t>     Insert ▸ SmartArt ▸ Process ▸ Basic Process, then type into the three boxes:</a:t>
            </a:r>
          </a:p>
          <a:p>
            <a:r>
              <a:rPr sz="1500" b="0">
                <a:solidFill>
                  <a:srgbClr val="555F6D"/>
                </a:solidFill>
                <a:latin typeface="Aptos"/>
              </a:rPr>
              <a:t>     {{Name}}   ·   {{Region}}   ·   Renewal {{Renewal|date:d MMM}}</a:t>
            </a:r>
          </a:p>
          <a:p>
            <a:r>
              <a:rPr sz="1500" b="0">
                <a:solidFill>
                  <a:srgbClr val="555F6D"/>
                </a:solidFill>
                <a:latin typeface="Aptos"/>
              </a:rPr>
              <a:t>     Delete the grey box afterwards. (Nothing outside PowerPoint can author SmartArt,</a:t>
            </a:r>
          </a:p>
          <a:p>
            <a:r>
              <a:rPr sz="1500" b="0">
                <a:solidFill>
                  <a:srgbClr val="555F6D"/>
                </a:solidFill>
                <a:latin typeface="Aptos"/>
              </a:rPr>
              <a:t>     and a diagram PowerPoint wrote is the stronger test anyway.)</a:t>
            </a:r>
          </a:p>
          <a:p>
            <a:endParaRPr sz="1500" b="0">
              <a:solidFill>
                <a:srgbClr val="555F6D"/>
              </a:solidFill>
              <a:latin typeface="Aptos"/>
            </a:endParaRPr>
          </a:p>
          <a:p>
            <a:r>
              <a:rPr sz="1500" b="0">
                <a:solidFill>
                  <a:srgbClr val="555F6D"/>
                </a:solidFill>
                <a:latin typeface="Aptos"/>
              </a:rPr>
              <a:t>2.  Open SSF Merge. Step 1: block from 2 to 3. Step 2: paste the rows from data.txt,</a:t>
            </a:r>
          </a:p>
          <a:p>
            <a:r>
              <a:rPr sz="1500" b="0">
                <a:solidFill>
                  <a:srgbClr val="555F6D"/>
                </a:solidFill>
                <a:latin typeface="Aptos"/>
              </a:rPr>
              <a:t>     then choose ada.png, grace.png and alan.png when the picture picker appears.</a:t>
            </a:r>
          </a:p>
          <a:p>
            <a:endParaRPr sz="1500" b="0">
              <a:solidFill>
                <a:srgbClr val="555F6D"/>
              </a:solidFill>
              <a:latin typeface="Aptos"/>
            </a:endParaRPr>
          </a:p>
          <a:p>
            <a:r>
              <a:rPr sz="1500" b="0">
                <a:solidFill>
                  <a:srgbClr val="555F6D"/>
                </a:solidFill>
                <a:latin typeface="Aptos"/>
              </a:rPr>
              <a:t>3.  Step 3 should list every field below. Step 5 merges: 3 rows × 2 slides = 6 slides.</a:t>
            </a:r>
          </a:p>
          <a:p>
            <a:endParaRPr sz="1500" b="0">
              <a:solidFill>
                <a:srgbClr val="555F6D"/>
              </a:solidFill>
              <a:latin typeface="Aptos"/>
            </a:endParaRPr>
          </a:p>
          <a:p>
            <a:r>
              <a:rPr sz="1500" b="0">
                <a:solidFill>
                  <a:srgbClr val="555F6D"/>
                </a:solidFill>
                <a:latin typeface="Aptos"/>
              </a:rPr>
              <a:t>Fields in this template: Name, Region, Revenue, Renewal, Photo — and Nickname,</a:t>
            </a:r>
          </a:p>
          <a:p>
            <a:r>
              <a:rPr sz="1500" b="0">
                <a:solidFill>
                  <a:srgbClr val="555F6D"/>
                </a:solidFill>
                <a:latin typeface="Aptos"/>
              </a:rPr>
              <a:t>which the data deliberately does NOT have. It should stay visible as {{Nickname}}.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2B4A"/>
                </a:solidFill>
                <a:latin typeface="Aptos"/>
              </a:rPr>
              <a:t>{{Name}} — {{Region}}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55F6D"/>
                </a:solidFill>
                <a:latin typeface="Aptos"/>
              </a:rPr>
              <a:t>Renewal {{Renewal|date:d MMM yyyy}}</a:t>
            </a:r>
          </a:p>
          <a:p>
            <a:r>
              <a:rPr sz="1800" b="0">
                <a:solidFill>
                  <a:srgbClr val="555F6D"/>
                </a:solidFill>
                <a:latin typeface="Aptos"/>
              </a:rPr>
              <a:t>{{Revenue|number:0}} 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40080"/>
            <a:ext cx="2926080" cy="2194560"/>
          </a:xfrm>
          <a:prstGeom prst="rect">
            <a:avLst/>
          </a:prstGeom>
          <a:noFill/>
          <a:ln w="19050">
            <a:solidFill>
              <a:srgbClr val="E47A1C"/>
            </a:solidFill>
          </a:ln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F6D"/>
                </a:solidFill>
              </a:rPr>
              <a:t>{{Photo|image}}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2651760"/>
          <a:ext cx="7498079" cy="3749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2B4A"/>
                </a:solidFill>
                <a:latin typeface="Aptos"/>
              </a:rPr>
              <a:t>Next steps for {{Name}}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F6D"/>
                </a:solidFill>
                <a:latin typeface="Aptos"/>
              </a:rPr>
              <a:t>Account owner: {{Nickname}}   ← no such column; this should stay as written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2114836-83A7-9C47-6FF0-12E1166CD6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3248400"/>
              </p:ext>
            </p:extLst>
          </p:nvPr>
        </p:nvGraphicFramePr>
        <p:xfrm>
          <a:off x="2016760" y="102785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291</Words>
  <Application>Microsoft Office PowerPoint</Application>
  <PresentationFormat>Widescreen</PresentationFormat>
  <Paragraphs>27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2026-08-30T11:15:05Z</dcterms:modified>
  <cp:category/>
</cp:coreProperties>
</file>